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ARTUR: Boa tarde a todos. Apresentaremos o CryptoETL, nosso projeto da disciplina Data Integration. O objetivo foi integrar dados econômicos brasileiros com dados do mercado de criptomoedas, construindo um pipeline automatizado do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GUILHERME: O mercado cripto é extremamente volátil e responde a fatores macroeconômicos. O problema central é que os dados estão em fontes diferentes, com formatos diferentes, sem qualquer integração. Nossa proposta foi resolver isso com automação.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GUILHERME: Nosso objetivo foi construir um pipeline completo: extração, transformação, carga e visualização. Os números finais validam a entrega: 19 testes, 1460 linhas consolidadas, zero nulos no câmbio e 365 registros por 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A arquitetura segue três camadas clássicas de ETL. As fontes são o Banco Central e a CoinGecko. O Airflow orquestra tudo. O Python executa as transformações. O PostgreSQL armazena e o Streamlit entrega a visualização. Toda a infraestrutura roda em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Utilizamos duas fontes públicas. O Banco Central fornece os indicadores macroeconômicos brasileiros: dólar, SELIC e IPCA. A CoinGecko fornece os dados de mercado para quatro criptoativos: Bitcoin, Ethereum, Solana e Binance Coin.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RAFAEL: O ETL tem três etapas claras. Na extração, consumimos as APIs REST e carregamos em DataFrames. Na transformação, padronizamos datas, calculamos SELIC anualizada, volatilidade e preço em reais. Na carga, usamos UPSERT para garantir que reprocessamentos não gerem duplicatas.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RAFAEL: Temos três DAGs. A primeira extrai os dados do Banco Central. A segunda extrai os dados da CoinGecko. A terceira consolida tudo em uma tabela analítica. Todas executam diariamente e o UPSERT garante que podemos reprocessar sem gerar dados duplicados.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ARTUR: O banco tem quatro tabelas. Duas brutas — uma para cada fonte. A daily_consolidated é a tabela analítica central, onde os dados já estão integrados, transformados e prontos para consulta. E a pipeline_run_log registra cada execução para rastreabilidade.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GUILHERME: Implementamos seis validações. A mais importante é o UPSERT que garante idempotência. Tratamos nulos na conversão numérica. Padronizamos todas as datas. O IPCA mensal é propagado por forward fill. E confirmamos com pytest: 19 testes aprovados, zero nulos.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RAFAEL: Fizemos três consultas de valor direto no PostgreSQL. A correlação entre dólar e Bitcoin deu 0,74 — relação positiva forte. Solana foi o ativo mais volátil. E comparando com a SELIC em 14,8% ao ano, apenas Ethereum e BNB tiveram retorno médio diário positivo no período.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Aqui estão as evidências reais do projeto. O pytest confirma 19 testes aprovados. O banco de dados tem exatamente 365 registros por ativo. O dashboard Streamlit mostra os KPIs consolidados, a correlação dólar-Bitcoin e as séries temporais. E o Airflow exibe as três DAGs ativas e em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TODOS: Entregamos um pipeline completo e funcional. Os números falam por si: 19 testes, 1460 linhas, zero nulos. O projeto é reprodutível, automatizado e documentado. Ficamos à disposição para perguntas da banca. Se quiserem, podemos fazer uma demonstração ao vivo do pipeline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CryptoETL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dados macroeconômicos brasileiros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mercado de criptomoedas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0"/>
          </a:xfrm>
          <a:prstGeom prst="line">
            <a:avLst/>
          </a:prstGeom>
          <a:noFill/>
          <a:ln w="19050">
            <a:solidFill>
              <a:srgbClr val="2A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2606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 |  Curso: Sistemas de Informação  |  2026.1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3017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ESPM — Sistemas de Informação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34290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Me. Andre Insardi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3840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 Napoles · Guilherme Carrico · Gustavo Dutra · Rafael Lucena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4709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4709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4709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4709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4709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709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4709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709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1000" y="4709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4709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integrar macroeconomia brasileira com criptoativos?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Fontes Heterogêneas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013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e CoinGecko usam formatos, granularidades e endpoints distintos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435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Dados Isolados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8013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macro (dólar, SELIC, IPCA) não estão conectados aos cripto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Sem Automação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3101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manual é inviável para análises contínuas e reprodutíveis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28346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Alta Volatilidade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3101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Criptoativos são fortemente influenciados por variáveis macroeconômicas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Solução: pipeline ETL automatizado que une as duas fontes em um banco analítico único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2024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dados das APIs do BCB e da CoinGecko via Python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260604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371600"/>
            <a:ext cx="192024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3774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Limpar, padronizar datas, calcular volatilidade e métricas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53128" y="260604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71600"/>
            <a:ext cx="1920240" cy="2560320"/>
          </a:xfrm>
          <a:prstGeom prst="rect">
            <a:avLst/>
          </a:prstGeom>
          <a:solidFill>
            <a:srgbClr val="145A8C"/>
          </a:solidFill>
          <a:ln w="12700">
            <a:solidFill>
              <a:srgbClr val="145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em PostgreSQL com idempotência via UPSERT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01968" y="260604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371600"/>
            <a:ext cx="1920240" cy="2560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23774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para análise e consultas de valor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aprovados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416052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56032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consolidadas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16052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6344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em dolar_brl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416052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6656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665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por ativo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828800" cy="2011680"/>
          </a:xfrm>
          <a:prstGeom prst="rect">
            <a:avLst/>
          </a:prstGeom>
          <a:solidFill>
            <a:srgbClr val="EBF5FB"/>
          </a:solidFill>
          <a:ln w="19050">
            <a:solidFill>
              <a:srgbClr val="AED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78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468880" y="960120"/>
            <a:ext cx="1737360" cy="2011680"/>
          </a:xfrm>
          <a:prstGeom prst="rect">
            <a:avLst/>
          </a:prstGeom>
          <a:solidFill>
            <a:srgbClr val="EAFAF1"/>
          </a:solidFill>
          <a:ln w="19050">
            <a:solidFill>
              <a:srgbClr val="A9D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978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1737360" cy="2011680"/>
          </a:xfrm>
          <a:prstGeom prst="rect">
            <a:avLst/>
          </a:prstGeom>
          <a:solidFill>
            <a:srgbClr val="FEF9E7"/>
          </a:solidFill>
          <a:ln w="19050">
            <a:solidFill>
              <a:srgbClr val="F9E7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978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Python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766560" y="960120"/>
            <a:ext cx="1188720" cy="2011680"/>
          </a:xfrm>
          <a:prstGeom prst="rect">
            <a:avLst/>
          </a:prstGeom>
          <a:solidFill>
            <a:srgbClr val="F4ECF7"/>
          </a:solidFill>
          <a:ln w="19050">
            <a:solidFill>
              <a:srgbClr val="C39B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978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83880" y="960120"/>
            <a:ext cx="731520" cy="2011680"/>
          </a:xfrm>
          <a:prstGeom prst="rect">
            <a:avLst/>
          </a:prstGeom>
          <a:solidFill>
            <a:srgbClr val="FDEDEC"/>
          </a:solidFill>
          <a:ln w="19050">
            <a:solidFill>
              <a:srgbClr val="F194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978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298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1536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 · SELIC · IPCA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9842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221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· ETH · SOL · BNB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1460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19202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dag_extract_bcb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dag_extract_coingecko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dag_consolidate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0916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requests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· UPSERT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84848" y="1371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84848" y="16916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tabelas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02168" y="14173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02168" y="17373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057400" y="196596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196596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96596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196596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127248"/>
            <a:ext cx="8686800" cy="320040"/>
          </a:xfrm>
          <a:prstGeom prst="roundRect">
            <a:avLst>
              <a:gd name="adj" fmla="val 17143"/>
            </a:avLst>
          </a:prstGeom>
          <a:solidFill>
            <a:srgbClr val="E8F4FD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12724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🐋  Docker — toda a infraestrutura containerizada (Airflow + PostgreSQL + Streamlit)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Pipeline ETL modular e reprodutível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Orquestrado com schedule diário (@daily)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UPSERT garante idempotência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Logging via pipeline_run_log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RELATORIO_TECNICO.pdf · Seção 2 — Arquitetura da solução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3520440"/>
          </a:xfrm>
          <a:prstGeom prst="rect">
            <a:avLst/>
          </a:prstGeom>
          <a:solidFill>
            <a:srgbClr val="EBF5FB"/>
          </a:solidFill>
          <a:ln w="1905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6052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do Brasil (BCB · SGS)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 (PTAX)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1 · câmbio de referência diário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66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11 · taxa básica de juros diária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88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626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433 · índice de preços mensal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3749040" cy="256032"/>
          </a:xfrm>
          <a:prstGeom prst="rect">
            <a:avLst/>
          </a:prstGeom>
          <a:solidFill>
            <a:srgbClr val="1A5276">
              <a:alpha val="15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REST · sem autenticação · formato JSON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160520" cy="3520440"/>
          </a:xfrm>
          <a:prstGeom prst="rect">
            <a:avLst/>
          </a:prstGeom>
          <a:solidFill>
            <a:srgbClr val="EAFAF1"/>
          </a:solidFill>
          <a:ln w="19050">
            <a:solidFill>
              <a:srgbClr val="A9DFB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60120"/>
            <a:ext cx="416052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960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API v3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1444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7190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· market cap · volume 24h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066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(ETH)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3408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· market cap · volume 24h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688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(SOL)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9626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· market cap · volume 24h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Coin (BNB)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5844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· market cap · volume 24h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4160520"/>
            <a:ext cx="3749040" cy="256032"/>
          </a:xfrm>
          <a:prstGeom prst="rect">
            <a:avLst/>
          </a:prstGeom>
          <a:solidFill>
            <a:srgbClr val="1E8449">
              <a:alpha val="15000"/>
            </a:srgbClr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· endpoint /market_chart · 365 dias de histórico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RELATORIO_TECNICO.pdf · Seção 3 — Fontes de dados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88920" cy="3794760"/>
          </a:xfrm>
          <a:prstGeom prst="rect">
            <a:avLst/>
          </a:prstGeom>
          <a:solidFill>
            <a:srgbClr val="EBF5FB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88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·  Extract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 /dados/serie/bcdata.sgs.{id}/dados (BCB SGS)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 /coins/{id}/market_chart (CoinGecko)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Parâmetro: últimos 365 dias de histórico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Resposta: JSON → DataFrame pandas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278892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960120"/>
            <a:ext cx="2788920" cy="3794760"/>
          </a:xfrm>
          <a:prstGeom prst="rect">
            <a:avLst/>
          </a:prstGeom>
          <a:solidFill>
            <a:srgbClr val="EAFAF1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60120"/>
            <a:ext cx="278892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·  Transform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463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Conversão de datas: DD/MM/YYYY → DATE (BCB)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19659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Timestamps ms → data diária (CoinGecko)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4688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SELIC anualizada: ((1 + d/100)^252 − 1) × 100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971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IPCA mensal → forward fill diário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4747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Variação diária (pct_change_1d) e volatilidade 7d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39776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Preço em BRL: price_usd × dolar_brl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53328" y="278892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960120"/>
            <a:ext cx="2788920" cy="3794760"/>
          </a:xfrm>
          <a:prstGeom prst="rect">
            <a:avLst/>
          </a:prstGeom>
          <a:solidFill>
            <a:srgbClr val="F4ECF7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960120"/>
            <a:ext cx="2788920" cy="411480"/>
          </a:xfrm>
          <a:prstGeom prst="rect">
            <a:avLst/>
          </a:prstGeom>
          <a:solidFill>
            <a:srgbClr val="145A8C"/>
          </a:solidFill>
          <a:ln w="12700">
            <a:solidFill>
              <a:srgbClr val="145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·  Load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463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INSERT … ON CONFLICT DO UPDATE (UPSERT)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19659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Chave única: (reference_date, indicator) / (coin_id, date)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24688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Registro de execução em pipeline_run_log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2971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Consolidação: JOIN bcb_indicators + crypto_market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RELATORIO_TECNICO.pdf · Seção 3 — Regras de transformação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do Apache Airflow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82880" cy="1170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dag_extract_bcb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3560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AED6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35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01952" y="143560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A9DFB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435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63824" y="143560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C39BD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435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7099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run_bcb_extraction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4688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88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bcb_indicators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1554480"/>
            <a:ext cx="384048" cy="38404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331720"/>
            <a:ext cx="182880" cy="1170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dag_extract_coingecko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276148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AED6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761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01952" y="276148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A9DFB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2761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63824" y="276148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C39BD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3824" y="2761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30358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run_coingecko_extraction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514600"/>
            <a:ext cx="246888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514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crypto_market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2880360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657600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657600"/>
            <a:ext cx="182880" cy="11704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dag_consolidate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408736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AED6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873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901952" y="408736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A9DFB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01952" y="40873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63824" y="408736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C39BD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63824" y="40873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0080" y="4361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extract_bcb → extract_coingecko → consolidate_daily_tables → validate_consolidation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3840480"/>
            <a:ext cx="246888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3840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daily_consolidated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21040" y="4206240"/>
            <a:ext cx="384048" cy="38404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10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Schedule: @daily (30 6 * * *)  ·  catchup=False  ·  LocalExecutor  ·  Ordem recomendada: BCB → CoinGecko → Consolidação  ·  UPSERT garante reprocessamento seguro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reports/screenshots/airflow_home.png · airflow_graph.png · RELATORIO_TECNICO.pdf · Seção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do Banco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737360"/>
          </a:xfrm>
          <a:prstGeom prst="rect">
            <a:avLst/>
          </a:prstGeom>
          <a:solidFill>
            <a:srgbClr val="EBF5FB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60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bcb_indicators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bruta macroeconômica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reference_date · indicator · valor · ingested_at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1737360"/>
          </a:xfrm>
          <a:prstGeom prst="rect">
            <a:avLst/>
          </a:prstGeom>
          <a:solidFill>
            <a:srgbClr val="EAFAF1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crypto_market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344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bruta de criptoativos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6184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coin_id · reference_date · price_usd · market_cap_usd · volume_24h_usd · ingested_at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60520" cy="1737360"/>
          </a:xfrm>
          <a:prstGeom prst="rect">
            <a:avLst/>
          </a:prstGeom>
          <a:solidFill>
            <a:srgbClr val="F4ECF7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416052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0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daily_consolidated 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264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analítica — fato central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5387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reference_date · coin_id · price_usd · price_brl · market_cap_usd · volume_24h_usd · pct_change_1d · volatility_7d · dolar_brl · selic_daily_rate · selic_annual_rate · ipca_monthly · created_at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60520" cy="1737360"/>
          </a:xfrm>
          <a:prstGeom prst="rect">
            <a:avLst/>
          </a:prstGeom>
          <a:solidFill>
            <a:srgbClr val="FEF9E7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4160520" cy="347472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80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pipeline_run_log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264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execuções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5387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dag_id · task_id · source · status · rows_inserted · error_message · started_at · finished_at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bcb_indicators  ──enriches──▶  daily_consolidated  ◀──enriches──  crypto_market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RELATORIO_TECNICO.pdf · Seção 4 — Modelagem do banco de dados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de Qualidade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Idempotência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com chave única por data e indicador/ativo — reprocessamentos são seguros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2743200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097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Tratamento de Nulos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numérica com errors='coerce' + validação final: 0 nulos em dolar_brl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743200" cy="7315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97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Consistência Temporal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todos os formatos de data para DATE e normalização para dia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97480"/>
            <a:ext cx="2743200" cy="73152"/>
          </a:xfrm>
          <a:prstGeom prst="rect">
            <a:avLst/>
          </a:prstGeom>
          <a:solidFill>
            <a:srgbClr val="856404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346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Forward Fill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 mensal propagado para todos os dias do período via forward fill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6974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69748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8346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Integridade Lógica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2004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dag_consolidate só executa após as duas extrações terem sido concluídas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6974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697480"/>
            <a:ext cx="27432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8346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Testes Automatizados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2004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testes pytest cobrindo extratores, transformadores e qualidade de dados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 validado: 19 testes aprovados · 1.460 linhas consolidadas · 0 nulos em dolar_brl · 365 registros por ativo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RELATORIO_TECNICO.pdf · Seção 6 — Validações de qualidade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Consultas 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977640" cy="320040"/>
          </a:xfrm>
          <a:prstGeom prst="rect">
            <a:avLst/>
          </a:prstGeom>
          <a:solidFill>
            <a:srgbClr val="1A2940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Dólar × BTC (em BRL)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corr(price_brl, dolar_brl)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daily_consolidated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coin_id = 'bitcoin';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positiva forte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dólar e Bitcoin em BRL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4343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960120"/>
            <a:ext cx="4343400" cy="320040"/>
          </a:xfrm>
          <a:prstGeom prst="rect">
            <a:avLst/>
          </a:prstGeom>
          <a:solidFill>
            <a:srgbClr val="1A2940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Média por Ativo (7d)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4160520" cy="1417320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avg_vol_7d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binancecoin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20040" y="297180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971800"/>
            <a:ext cx="8503920" cy="320040"/>
          </a:xfrm>
          <a:prstGeom prst="rect">
            <a:avLst/>
          </a:prstGeom>
          <a:solidFill>
            <a:srgbClr val="1A2940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Anualizada vs Retorno Médio Diário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337560"/>
          <a:ext cx="8366760" cy="105156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avg_daily_return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avg_selic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binancecoin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RELATORIO_TECNICO.pdf · Seção 7 — Resultados e consultas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Testes, Evidências e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pytest -q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collected 19 items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test_bcb_extractor.py          ..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test_bcb_transformer.py        .....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test_coingecko_extractor.py    ..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test_crypto_transformer.py     ......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test_data_quality.py           ....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16052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  19 passed in 2.47s  ====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2918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reports/screenshots/pytest_output.txt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Registros por ativo (db_counts.csv)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23360" cy="15544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binancecoin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663440" y="29718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reports/screenshots/db_counts.csv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20040" y="3383280"/>
            <a:ext cx="850392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383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CryptoETL Dashboard — visão do Streamlit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37490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29768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29768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1460 linhas · 4 ativos · preço médio BTC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9768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reports/screenshots/dashboard_overview.png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200400" y="37490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310128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Dólar × BTC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310128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0,76 exibida no dashboard Streamlit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310128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reports/screenshots/dashboard_correlation.png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080760" y="37490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190488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Home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90488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DAGs ativas: dag_consolidate, dag_extract_bcb, dag_extract_coingecko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90488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reports/screenshots/airflow_home.png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entregue: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automatizado com Apache Airflow (3 DAGs)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dados do BCB e da CoinGecko em PostgreSQL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analítica daily_consolidated com 1.460 linhas consolidadas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com KPIs, séries temporais e correlações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testes automatizados (pytest) — 100% aprovados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containerizada com Docker · Rastreabilidade via logs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822960"/>
            <a:ext cx="3246120" cy="3474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868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Evoluções Futuras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12618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Mais ativos e indicadores (PIB, desemprego)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17190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Camadas históricas (Data Lake / S3)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21762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Alertas e dashboards no Metabase / Power BI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2633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Testes de schema drift e qualidade contínua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Cache local para reduzir chamadas às APIs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0"/>
          </a:xfrm>
          <a:prstGeom prst="line">
            <a:avLst/>
          </a:prstGeom>
          <a:noFill/>
          <a:ln w="12700">
            <a:solidFill>
              <a:srgbClr val="2A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159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" y="4690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 Napoles · Guilherme Carrico · Gustavo Dutra · Rafael Lucena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CryptoETL – Integração de Dados Macroeconômicos e Criptomoedas</dc:title>
  <dc:subject>PptxGenJS Presentation</dc:subject>
  <dc:creator>PptxGenJS</dc:creator>
  <cp:lastModifiedBy>PptxGenJS</cp:lastModifiedBy>
  <cp:revision>1</cp:revision>
  <dcterms:created xsi:type="dcterms:W3CDTF">2026-05-24T18:51:33Z</dcterms:created>
  <dcterms:modified xsi:type="dcterms:W3CDTF">2026-05-24T18:51:33Z</dcterms:modified>
</cp:coreProperties>
</file>